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69" r:id="rId3"/>
    <p:sldId id="290" r:id="rId4"/>
    <p:sldId id="289" r:id="rId5"/>
    <p:sldId id="273" r:id="rId6"/>
    <p:sldId id="285" r:id="rId7"/>
    <p:sldId id="259" r:id="rId8"/>
    <p:sldId id="260" r:id="rId9"/>
    <p:sldId id="262" r:id="rId10"/>
    <p:sldId id="267"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14" autoAdjust="0"/>
    <p:restoredTop sz="94660"/>
  </p:normalViewPr>
  <p:slideViewPr>
    <p:cSldViewPr snapToGrid="0">
      <p:cViewPr varScale="1">
        <p:scale>
          <a:sx n="59" d="100"/>
          <a:sy n="59" d="100"/>
        </p:scale>
        <p:origin x="90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56EEBB8-58C9-4049-93C0-C1E3D4FC0A43}" type="datetimeFigureOut">
              <a:rPr lang="en-IN" smtClean="0"/>
              <a:t>11-01-2026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FC35400-0AD1-4784-A9BF-F697EDEEA300}" type="slidenum">
              <a:rPr lang="en-IN" smtClean="0"/>
              <a:t>‹#›</a:t>
            </a:fld>
            <a:endParaRPr lang="en-IN"/>
          </a:p>
        </p:txBody>
      </p:sp>
    </p:spTree>
    <p:extLst>
      <p:ext uri="{BB962C8B-B14F-4D97-AF65-F5344CB8AC3E}">
        <p14:creationId xmlns:p14="http://schemas.microsoft.com/office/powerpoint/2010/main" val="37999912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6EEBB8-58C9-4049-93C0-C1E3D4FC0A43}" type="datetimeFigureOut">
              <a:rPr lang="en-IN" smtClean="0"/>
              <a:t>11-01-2026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FC35400-0AD1-4784-A9BF-F697EDEEA300}" type="slidenum">
              <a:rPr lang="en-IN" smtClean="0"/>
              <a:t>‹#›</a:t>
            </a:fld>
            <a:endParaRPr lang="en-IN"/>
          </a:p>
        </p:txBody>
      </p:sp>
    </p:spTree>
    <p:extLst>
      <p:ext uri="{BB962C8B-B14F-4D97-AF65-F5344CB8AC3E}">
        <p14:creationId xmlns:p14="http://schemas.microsoft.com/office/powerpoint/2010/main" val="21888965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56EEBB8-58C9-4049-93C0-C1E3D4FC0A43}" type="datetimeFigureOut">
              <a:rPr lang="en-IN" smtClean="0"/>
              <a:t>11-01-2026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FC35400-0AD1-4784-A9BF-F697EDEEA300}" type="slidenum">
              <a:rPr lang="en-IN" smtClean="0"/>
              <a:t>‹#›</a:t>
            </a:fld>
            <a:endParaRPr lang="en-IN"/>
          </a:p>
        </p:txBody>
      </p:sp>
    </p:spTree>
    <p:extLst>
      <p:ext uri="{BB962C8B-B14F-4D97-AF65-F5344CB8AC3E}">
        <p14:creationId xmlns:p14="http://schemas.microsoft.com/office/powerpoint/2010/main" val="22348694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56EEBB8-58C9-4049-93C0-C1E3D4FC0A43}" type="datetimeFigureOut">
              <a:rPr lang="en-IN" smtClean="0"/>
              <a:t>11-01-2026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FC35400-0AD1-4784-A9BF-F697EDEEA300}" type="slidenum">
              <a:rPr lang="en-IN" smtClean="0"/>
              <a:t>‹#›</a:t>
            </a:fld>
            <a:endParaRPr lang="en-IN"/>
          </a:p>
        </p:txBody>
      </p:sp>
    </p:spTree>
    <p:extLst>
      <p:ext uri="{BB962C8B-B14F-4D97-AF65-F5344CB8AC3E}">
        <p14:creationId xmlns:p14="http://schemas.microsoft.com/office/powerpoint/2010/main" val="27197357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56EEBB8-58C9-4049-93C0-C1E3D4FC0A43}" type="datetimeFigureOut">
              <a:rPr lang="en-IN" smtClean="0"/>
              <a:t>11-01-2026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FC35400-0AD1-4784-A9BF-F697EDEEA300}" type="slidenum">
              <a:rPr lang="en-IN" smtClean="0"/>
              <a:t>‹#›</a:t>
            </a:fld>
            <a:endParaRPr lang="en-IN"/>
          </a:p>
        </p:txBody>
      </p:sp>
    </p:spTree>
    <p:extLst>
      <p:ext uri="{BB962C8B-B14F-4D97-AF65-F5344CB8AC3E}">
        <p14:creationId xmlns:p14="http://schemas.microsoft.com/office/powerpoint/2010/main" val="3305646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56EEBB8-58C9-4049-93C0-C1E3D4FC0A43}" type="datetimeFigureOut">
              <a:rPr lang="en-IN" smtClean="0"/>
              <a:t>11-01-2026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FC35400-0AD1-4784-A9BF-F697EDEEA300}" type="slidenum">
              <a:rPr lang="en-IN" smtClean="0"/>
              <a:t>‹#›</a:t>
            </a:fld>
            <a:endParaRPr lang="en-IN"/>
          </a:p>
        </p:txBody>
      </p:sp>
    </p:spTree>
    <p:extLst>
      <p:ext uri="{BB962C8B-B14F-4D97-AF65-F5344CB8AC3E}">
        <p14:creationId xmlns:p14="http://schemas.microsoft.com/office/powerpoint/2010/main" val="251325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6EEBB8-58C9-4049-93C0-C1E3D4FC0A43}" type="datetimeFigureOut">
              <a:rPr lang="en-IN" smtClean="0"/>
              <a:t>11-01-2026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FC35400-0AD1-4784-A9BF-F697EDEEA300}" type="slidenum">
              <a:rPr lang="en-IN" smtClean="0"/>
              <a:t>‹#›</a:t>
            </a:fld>
            <a:endParaRPr lang="en-IN"/>
          </a:p>
        </p:txBody>
      </p:sp>
    </p:spTree>
    <p:extLst>
      <p:ext uri="{BB962C8B-B14F-4D97-AF65-F5344CB8AC3E}">
        <p14:creationId xmlns:p14="http://schemas.microsoft.com/office/powerpoint/2010/main" val="32519773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56EEBB8-58C9-4049-93C0-C1E3D4FC0A43}" type="datetimeFigureOut">
              <a:rPr lang="en-IN" smtClean="0"/>
              <a:t>11-01-2026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FC35400-0AD1-4784-A9BF-F697EDEEA300}" type="slidenum">
              <a:rPr lang="en-IN" smtClean="0"/>
              <a:t>‹#›</a:t>
            </a:fld>
            <a:endParaRPr lang="en-IN"/>
          </a:p>
        </p:txBody>
      </p:sp>
    </p:spTree>
    <p:extLst>
      <p:ext uri="{BB962C8B-B14F-4D97-AF65-F5344CB8AC3E}">
        <p14:creationId xmlns:p14="http://schemas.microsoft.com/office/powerpoint/2010/main" val="36348995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56EEBB8-58C9-4049-93C0-C1E3D4FC0A43}" type="datetimeFigureOut">
              <a:rPr lang="en-IN" smtClean="0"/>
              <a:t>11-01-2026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FC35400-0AD1-4784-A9BF-F697EDEEA300}" type="slidenum">
              <a:rPr lang="en-IN" smtClean="0"/>
              <a:t>‹#›</a:t>
            </a:fld>
            <a:endParaRPr lang="en-IN"/>
          </a:p>
        </p:txBody>
      </p:sp>
    </p:spTree>
    <p:extLst>
      <p:ext uri="{BB962C8B-B14F-4D97-AF65-F5344CB8AC3E}">
        <p14:creationId xmlns:p14="http://schemas.microsoft.com/office/powerpoint/2010/main" val="19475681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56EEBB8-58C9-4049-93C0-C1E3D4FC0A43}" type="datetimeFigureOut">
              <a:rPr lang="en-IN" smtClean="0"/>
              <a:t>11-01-2026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FC35400-0AD1-4784-A9BF-F697EDEEA300}" type="slidenum">
              <a:rPr lang="en-IN" smtClean="0"/>
              <a:t>‹#›</a:t>
            </a:fld>
            <a:endParaRPr lang="en-IN"/>
          </a:p>
        </p:txBody>
      </p:sp>
    </p:spTree>
    <p:extLst>
      <p:ext uri="{BB962C8B-B14F-4D97-AF65-F5344CB8AC3E}">
        <p14:creationId xmlns:p14="http://schemas.microsoft.com/office/powerpoint/2010/main" val="2982212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56EEBB8-58C9-4049-93C0-C1E3D4FC0A43}" type="datetimeFigureOut">
              <a:rPr lang="en-IN" smtClean="0"/>
              <a:t>11-01-2026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FC35400-0AD1-4784-A9BF-F697EDEEA300}" type="slidenum">
              <a:rPr lang="en-IN" smtClean="0"/>
              <a:t>‹#›</a:t>
            </a:fld>
            <a:endParaRPr lang="en-IN"/>
          </a:p>
        </p:txBody>
      </p:sp>
    </p:spTree>
    <p:extLst>
      <p:ext uri="{BB962C8B-B14F-4D97-AF65-F5344CB8AC3E}">
        <p14:creationId xmlns:p14="http://schemas.microsoft.com/office/powerpoint/2010/main" val="40806821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56EEBB8-58C9-4049-93C0-C1E3D4FC0A43}" type="datetimeFigureOut">
              <a:rPr lang="en-IN" smtClean="0"/>
              <a:t>11-01-2026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FC35400-0AD1-4784-A9BF-F697EDEEA300}" type="slidenum">
              <a:rPr lang="en-IN" smtClean="0"/>
              <a:t>‹#›</a:t>
            </a:fld>
            <a:endParaRPr lang="en-IN"/>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8105117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56EEBB8-58C9-4049-93C0-C1E3D4FC0A43}" type="datetimeFigureOut">
              <a:rPr lang="en-IN" smtClean="0"/>
              <a:t>11-01-2026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FC35400-0AD1-4784-A9BF-F697EDEEA300}" type="slidenum">
              <a:rPr lang="en-IN" smtClean="0"/>
              <a:t>‹#›</a:t>
            </a:fld>
            <a:endParaRPr lang="en-IN"/>
          </a:p>
        </p:txBody>
      </p:sp>
    </p:spTree>
    <p:extLst>
      <p:ext uri="{BB962C8B-B14F-4D97-AF65-F5344CB8AC3E}">
        <p14:creationId xmlns:p14="http://schemas.microsoft.com/office/powerpoint/2010/main" val="3827819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56EEBB8-58C9-4049-93C0-C1E3D4FC0A43}" type="datetimeFigureOut">
              <a:rPr lang="en-IN" smtClean="0"/>
              <a:t>11-01-2026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FC35400-0AD1-4784-A9BF-F697EDEEA300}" type="slidenum">
              <a:rPr lang="en-IN" smtClean="0"/>
              <a:t>‹#›</a:t>
            </a:fld>
            <a:endParaRPr lang="en-IN"/>
          </a:p>
        </p:txBody>
      </p:sp>
    </p:spTree>
    <p:extLst>
      <p:ext uri="{BB962C8B-B14F-4D97-AF65-F5344CB8AC3E}">
        <p14:creationId xmlns:p14="http://schemas.microsoft.com/office/powerpoint/2010/main" val="20420817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56EEBB8-58C9-4049-93C0-C1E3D4FC0A43}" type="datetimeFigureOut">
              <a:rPr lang="en-IN" smtClean="0"/>
              <a:t>11-01-2026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FC35400-0AD1-4784-A9BF-F697EDEEA300}" type="slidenum">
              <a:rPr lang="en-IN" smtClean="0"/>
              <a:t>‹#›</a:t>
            </a:fld>
            <a:endParaRPr lang="en-IN"/>
          </a:p>
        </p:txBody>
      </p:sp>
    </p:spTree>
    <p:extLst>
      <p:ext uri="{BB962C8B-B14F-4D97-AF65-F5344CB8AC3E}">
        <p14:creationId xmlns:p14="http://schemas.microsoft.com/office/powerpoint/2010/main" val="17844326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6EEBB8-58C9-4049-93C0-C1E3D4FC0A43}" type="datetimeFigureOut">
              <a:rPr lang="en-IN" smtClean="0"/>
              <a:t>11-01-2026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FC35400-0AD1-4784-A9BF-F697EDEEA300}" type="slidenum">
              <a:rPr lang="en-IN" smtClean="0"/>
              <a:t>‹#›</a:t>
            </a:fld>
            <a:endParaRPr lang="en-IN"/>
          </a:p>
        </p:txBody>
      </p:sp>
    </p:spTree>
    <p:extLst>
      <p:ext uri="{BB962C8B-B14F-4D97-AF65-F5344CB8AC3E}">
        <p14:creationId xmlns:p14="http://schemas.microsoft.com/office/powerpoint/2010/main" val="10977962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6EEBB8-58C9-4049-93C0-C1E3D4FC0A43}" type="datetimeFigureOut">
              <a:rPr lang="en-IN" smtClean="0"/>
              <a:t>11-01-2026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FC35400-0AD1-4784-A9BF-F697EDEEA300}" type="slidenum">
              <a:rPr lang="en-IN" smtClean="0"/>
              <a:t>‹#›</a:t>
            </a:fld>
            <a:endParaRPr lang="en-IN"/>
          </a:p>
        </p:txBody>
      </p:sp>
    </p:spTree>
    <p:extLst>
      <p:ext uri="{BB962C8B-B14F-4D97-AF65-F5344CB8AC3E}">
        <p14:creationId xmlns:p14="http://schemas.microsoft.com/office/powerpoint/2010/main" val="251040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A56EEBB8-58C9-4049-93C0-C1E3D4FC0A43}" type="datetimeFigureOut">
              <a:rPr lang="en-IN" smtClean="0"/>
              <a:t>11-01-2026</a:t>
            </a:fld>
            <a:endParaRPr lang="en-IN"/>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5FC35400-0AD1-4784-A9BF-F697EDEEA300}" type="slidenum">
              <a:rPr lang="en-IN" smtClean="0"/>
              <a:t>‹#›</a:t>
            </a:fld>
            <a:endParaRPr lang="en-IN"/>
          </a:p>
        </p:txBody>
      </p:sp>
    </p:spTree>
    <p:extLst>
      <p:ext uri="{BB962C8B-B14F-4D97-AF65-F5344CB8AC3E}">
        <p14:creationId xmlns:p14="http://schemas.microsoft.com/office/powerpoint/2010/main" val="2488920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417AA-EC2C-8424-E8B4-8C0314C95B3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D0701AC-4418-8043-B62B-ACC508F305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628" y="141746"/>
            <a:ext cx="3423394" cy="892398"/>
          </a:xfrm>
          <a:prstGeom prst="rect">
            <a:avLst/>
          </a:prstGeom>
        </p:spPr>
      </p:pic>
      <p:sp>
        <p:nvSpPr>
          <p:cNvPr id="2" name="Rectangle 1">
            <a:extLst>
              <a:ext uri="{FF2B5EF4-FFF2-40B4-BE49-F238E27FC236}">
                <a16:creationId xmlns:a16="http://schemas.microsoft.com/office/drawing/2014/main" id="{01B14C5C-3EBF-D086-0B56-98EBDFC1B63B}"/>
              </a:ext>
            </a:extLst>
          </p:cNvPr>
          <p:cNvSpPr/>
          <p:nvPr/>
        </p:nvSpPr>
        <p:spPr>
          <a:xfrm>
            <a:off x="4238191" y="1443335"/>
            <a:ext cx="3236655" cy="923330"/>
          </a:xfrm>
          <a:prstGeom prst="rect">
            <a:avLst/>
          </a:prstGeom>
          <a:noFill/>
        </p:spPr>
        <p:txBody>
          <a:bodyPr wrap="none" lIns="91440" tIns="45720" rIns="91440" bIns="45720">
            <a:spAutoFit/>
          </a:bodyPr>
          <a:lstStyle/>
          <a:p>
            <a:pPr algn="ctr"/>
            <a:r>
              <a:rPr lang="en-US" sz="5400" b="1" cap="none" spc="0" dirty="0">
                <a:ln w="0"/>
                <a:solidFill>
                  <a:schemeClr val="tx1"/>
                </a:solidFill>
                <a:effectLst>
                  <a:outerShdw blurRad="38100" dist="19050" dir="2700000" algn="tl" rotWithShape="0">
                    <a:schemeClr val="dk1">
                      <a:alpha val="40000"/>
                    </a:schemeClr>
                  </a:outerShdw>
                </a:effectLst>
                <a:highlight>
                  <a:srgbClr val="FF0000"/>
                </a:highlight>
              </a:rPr>
              <a:t>TCS PYQ</a:t>
            </a:r>
          </a:p>
        </p:txBody>
      </p:sp>
      <p:sp>
        <p:nvSpPr>
          <p:cNvPr id="7" name="Rectangle 6">
            <a:extLst>
              <a:ext uri="{FF2B5EF4-FFF2-40B4-BE49-F238E27FC236}">
                <a16:creationId xmlns:a16="http://schemas.microsoft.com/office/drawing/2014/main" id="{889DFD94-0B45-49BC-F8BE-5410E2B13DDC}"/>
              </a:ext>
            </a:extLst>
          </p:cNvPr>
          <p:cNvSpPr/>
          <p:nvPr/>
        </p:nvSpPr>
        <p:spPr>
          <a:xfrm>
            <a:off x="2293591" y="3018864"/>
            <a:ext cx="6828857" cy="1656287"/>
          </a:xfrm>
          <a:prstGeom prst="rect">
            <a:avLst/>
          </a:prstGeom>
          <a:noFill/>
        </p:spPr>
        <p:txBody>
          <a:bodyPr wrap="none" lIns="91440" tIns="45720" rIns="91440" bIns="45720">
            <a:spAutoFit/>
          </a:bodyPr>
          <a:lstStyle/>
          <a:p>
            <a:pPr marL="571500" indent="-571500">
              <a:lnSpc>
                <a:spcPct val="150000"/>
              </a:lnSpc>
              <a:buFont typeface="Wingdings" panose="05000000000000000000" pitchFamily="2" charset="2"/>
              <a:buChar char="ü"/>
            </a:pPr>
            <a:r>
              <a:rPr lang="en-US" sz="3600" b="1" dirty="0">
                <a:ln w="0"/>
                <a:solidFill>
                  <a:srgbClr val="FFFF00"/>
                </a:solidFill>
                <a:effectLst>
                  <a:outerShdw blurRad="38100" dist="19050" dir="2700000" algn="tl" rotWithShape="0">
                    <a:schemeClr val="dk1">
                      <a:alpha val="40000"/>
                    </a:schemeClr>
                  </a:outerShdw>
                </a:effectLst>
              </a:rPr>
              <a:t>Longest subarray with sum K </a:t>
            </a:r>
          </a:p>
          <a:p>
            <a:pPr marL="571500" indent="-571500">
              <a:lnSpc>
                <a:spcPct val="150000"/>
              </a:lnSpc>
              <a:buFont typeface="Wingdings" panose="05000000000000000000" pitchFamily="2" charset="2"/>
              <a:buChar char="ü"/>
            </a:pPr>
            <a:r>
              <a:rPr lang="en-US" sz="3600" b="1" dirty="0">
                <a:ln w="0"/>
                <a:solidFill>
                  <a:srgbClr val="FFFF00"/>
                </a:solidFill>
                <a:effectLst>
                  <a:outerShdw blurRad="38100" dist="19050" dir="2700000" algn="tl" rotWithShape="0">
                    <a:schemeClr val="dk1">
                      <a:alpha val="40000"/>
                    </a:schemeClr>
                  </a:outerShdw>
                </a:effectLst>
              </a:rPr>
              <a:t>String encryption</a:t>
            </a:r>
            <a:endParaRPr lang="en-US" sz="3600" b="1" cap="none" spc="0" dirty="0">
              <a:ln w="0"/>
              <a:solidFill>
                <a:srgbClr val="FFFF00"/>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2582614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857" y="130859"/>
            <a:ext cx="3339881" cy="870628"/>
          </a:xfrm>
          <a:prstGeom prst="rect">
            <a:avLst/>
          </a:prstGeom>
        </p:spPr>
      </p:pic>
      <p:pic>
        <p:nvPicPr>
          <p:cNvPr id="4" name="Picture 3"/>
          <p:cNvPicPr>
            <a:picLocks noChangeAspect="1"/>
          </p:cNvPicPr>
          <p:nvPr/>
        </p:nvPicPr>
        <p:blipFill>
          <a:blip r:embed="rId3"/>
          <a:stretch>
            <a:fillRect/>
          </a:stretch>
        </p:blipFill>
        <p:spPr>
          <a:xfrm>
            <a:off x="3448738" y="1284838"/>
            <a:ext cx="6239746" cy="5115639"/>
          </a:xfrm>
          <a:prstGeom prst="rect">
            <a:avLst/>
          </a:prstGeom>
        </p:spPr>
      </p:pic>
      <p:pic>
        <p:nvPicPr>
          <p:cNvPr id="5" name="Picture 4"/>
          <p:cNvPicPr>
            <a:picLocks noChangeAspect="1"/>
          </p:cNvPicPr>
          <p:nvPr/>
        </p:nvPicPr>
        <p:blipFill>
          <a:blip r:embed="rId4"/>
          <a:stretch>
            <a:fillRect/>
          </a:stretch>
        </p:blipFill>
        <p:spPr>
          <a:xfrm>
            <a:off x="3984171" y="566173"/>
            <a:ext cx="4851944" cy="41704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AB031-4D4E-DA28-3309-2B4438721D6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5A531EE-D8B1-92ED-2C41-A820C8270D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857" y="130859"/>
            <a:ext cx="3339881" cy="870628"/>
          </a:xfrm>
          <a:prstGeom prst="rect">
            <a:avLst/>
          </a:prstGeom>
        </p:spPr>
      </p:pic>
      <p:pic>
        <p:nvPicPr>
          <p:cNvPr id="6" name="Picture 5">
            <a:extLst>
              <a:ext uri="{FF2B5EF4-FFF2-40B4-BE49-F238E27FC236}">
                <a16:creationId xmlns:a16="http://schemas.microsoft.com/office/drawing/2014/main" id="{86D10D36-541F-738D-EA7F-D83D075D6A84}"/>
              </a:ext>
            </a:extLst>
          </p:cNvPr>
          <p:cNvPicPr>
            <a:picLocks noChangeAspect="1"/>
          </p:cNvPicPr>
          <p:nvPr/>
        </p:nvPicPr>
        <p:blipFill>
          <a:blip r:embed="rId3"/>
          <a:stretch>
            <a:fillRect/>
          </a:stretch>
        </p:blipFill>
        <p:spPr>
          <a:xfrm>
            <a:off x="2820333" y="1105891"/>
            <a:ext cx="6115904" cy="5277587"/>
          </a:xfrm>
          <a:prstGeom prst="rect">
            <a:avLst/>
          </a:prstGeom>
        </p:spPr>
      </p:pic>
      <p:sp>
        <p:nvSpPr>
          <p:cNvPr id="7" name="Rectangle 6">
            <a:extLst>
              <a:ext uri="{FF2B5EF4-FFF2-40B4-BE49-F238E27FC236}">
                <a16:creationId xmlns:a16="http://schemas.microsoft.com/office/drawing/2014/main" id="{81C0F5C0-7E4B-FD08-D616-7A2EAC600318}"/>
              </a:ext>
            </a:extLst>
          </p:cNvPr>
          <p:cNvSpPr/>
          <p:nvPr/>
        </p:nvSpPr>
        <p:spPr>
          <a:xfrm>
            <a:off x="9742096" y="2967335"/>
            <a:ext cx="1438151"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Java</a:t>
            </a:r>
          </a:p>
        </p:txBody>
      </p:sp>
    </p:spTree>
    <p:extLst>
      <p:ext uri="{BB962C8B-B14F-4D97-AF65-F5344CB8AC3E}">
        <p14:creationId xmlns:p14="http://schemas.microsoft.com/office/powerpoint/2010/main" val="1195884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30F05-5F83-A5F6-BB15-7198F521794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22E44F3-8C7C-1B71-7FB9-57DC65329D8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857" y="130859"/>
            <a:ext cx="3339881" cy="870628"/>
          </a:xfrm>
          <a:prstGeom prst="rect">
            <a:avLst/>
          </a:prstGeom>
        </p:spPr>
      </p:pic>
      <p:pic>
        <p:nvPicPr>
          <p:cNvPr id="4" name="Picture 3">
            <a:extLst>
              <a:ext uri="{FF2B5EF4-FFF2-40B4-BE49-F238E27FC236}">
                <a16:creationId xmlns:a16="http://schemas.microsoft.com/office/drawing/2014/main" id="{9575DC5E-D6DC-9AC1-6240-17A36BAFE576}"/>
              </a:ext>
            </a:extLst>
          </p:cNvPr>
          <p:cNvPicPr>
            <a:picLocks noChangeAspect="1"/>
          </p:cNvPicPr>
          <p:nvPr/>
        </p:nvPicPr>
        <p:blipFill>
          <a:blip r:embed="rId3"/>
          <a:stretch>
            <a:fillRect/>
          </a:stretch>
        </p:blipFill>
        <p:spPr>
          <a:xfrm>
            <a:off x="4099475" y="471074"/>
            <a:ext cx="5125165" cy="5915851"/>
          </a:xfrm>
          <a:prstGeom prst="rect">
            <a:avLst/>
          </a:prstGeom>
        </p:spPr>
      </p:pic>
      <p:sp>
        <p:nvSpPr>
          <p:cNvPr id="5" name="Rectangle 4">
            <a:extLst>
              <a:ext uri="{FF2B5EF4-FFF2-40B4-BE49-F238E27FC236}">
                <a16:creationId xmlns:a16="http://schemas.microsoft.com/office/drawing/2014/main" id="{D3BB7CDF-A9A1-528E-7283-E4A897E2F654}"/>
              </a:ext>
            </a:extLst>
          </p:cNvPr>
          <p:cNvSpPr/>
          <p:nvPr/>
        </p:nvSpPr>
        <p:spPr>
          <a:xfrm>
            <a:off x="1360830" y="2858478"/>
            <a:ext cx="1606530" cy="923330"/>
          </a:xfrm>
          <a:prstGeom prst="rect">
            <a:avLst/>
          </a:prstGeom>
          <a:noFill/>
        </p:spPr>
        <p:txBody>
          <a:bodyPr wrap="none" lIns="91440" tIns="45720" rIns="91440" bIns="45720">
            <a:spAutoFit/>
          </a:bodyPr>
          <a:lstStyle/>
          <a:p>
            <a:pPr algn="ctr"/>
            <a:r>
              <a:rPr lang="en-US" sz="5400" dirty="0">
                <a:ln w="0"/>
                <a:effectLst>
                  <a:outerShdw blurRad="38100" dist="19050" dir="2700000" algn="tl" rotWithShape="0">
                    <a:schemeClr val="dk1">
                      <a:alpha val="40000"/>
                    </a:schemeClr>
                  </a:outerShdw>
                </a:effectLst>
              </a:rPr>
              <a:t>C++</a:t>
            </a: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567243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857" y="130859"/>
            <a:ext cx="3339881" cy="870628"/>
          </a:xfrm>
          <a:prstGeom prst="rect">
            <a:avLst/>
          </a:prstGeom>
        </p:spPr>
      </p:pic>
      <p:pic>
        <p:nvPicPr>
          <p:cNvPr id="4" name="Picture 3"/>
          <p:cNvPicPr>
            <a:picLocks noChangeAspect="1"/>
          </p:cNvPicPr>
          <p:nvPr/>
        </p:nvPicPr>
        <p:blipFill>
          <a:blip r:embed="rId3"/>
          <a:stretch>
            <a:fillRect/>
          </a:stretch>
        </p:blipFill>
        <p:spPr>
          <a:xfrm>
            <a:off x="4591738" y="566173"/>
            <a:ext cx="6353004" cy="5748734"/>
          </a:xfrm>
          <a:prstGeom prst="rect">
            <a:avLst/>
          </a:prstGeom>
        </p:spPr>
      </p:pic>
      <p:sp>
        <p:nvSpPr>
          <p:cNvPr id="3" name="Rectangle 2">
            <a:extLst>
              <a:ext uri="{FF2B5EF4-FFF2-40B4-BE49-F238E27FC236}">
                <a16:creationId xmlns:a16="http://schemas.microsoft.com/office/drawing/2014/main" id="{B8FE69A0-7277-662D-A7D7-C7E529EFEBA8}"/>
              </a:ext>
            </a:extLst>
          </p:cNvPr>
          <p:cNvSpPr/>
          <p:nvPr/>
        </p:nvSpPr>
        <p:spPr>
          <a:xfrm>
            <a:off x="1778797" y="2505670"/>
            <a:ext cx="1438151"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Java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857" y="130859"/>
            <a:ext cx="3339881" cy="870628"/>
          </a:xfrm>
          <a:prstGeom prst="rect">
            <a:avLst/>
          </a:prstGeom>
        </p:spPr>
      </p:pic>
      <p:pic>
        <p:nvPicPr>
          <p:cNvPr id="4" name="Picture 3">
            <a:extLst>
              <a:ext uri="{FF2B5EF4-FFF2-40B4-BE49-F238E27FC236}">
                <a16:creationId xmlns:a16="http://schemas.microsoft.com/office/drawing/2014/main" id="{00CF740D-4324-4F41-CBA7-08584E1F1A8C}"/>
              </a:ext>
            </a:extLst>
          </p:cNvPr>
          <p:cNvPicPr>
            <a:picLocks noChangeAspect="1"/>
          </p:cNvPicPr>
          <p:nvPr/>
        </p:nvPicPr>
        <p:blipFill>
          <a:blip r:embed="rId3"/>
          <a:stretch>
            <a:fillRect/>
          </a:stretch>
        </p:blipFill>
        <p:spPr>
          <a:xfrm>
            <a:off x="1207139" y="1230420"/>
            <a:ext cx="7078063" cy="4963218"/>
          </a:xfrm>
          <a:prstGeom prst="rect">
            <a:avLst/>
          </a:prstGeom>
        </p:spPr>
      </p:pic>
      <p:sp>
        <p:nvSpPr>
          <p:cNvPr id="5" name="Rectangle 4">
            <a:extLst>
              <a:ext uri="{FF2B5EF4-FFF2-40B4-BE49-F238E27FC236}">
                <a16:creationId xmlns:a16="http://schemas.microsoft.com/office/drawing/2014/main" id="{7A3A9506-EF0D-80D1-1B5D-4962A2EC0FD7}"/>
              </a:ext>
            </a:extLst>
          </p:cNvPr>
          <p:cNvSpPr/>
          <p:nvPr/>
        </p:nvSpPr>
        <p:spPr>
          <a:xfrm>
            <a:off x="9026533" y="3119735"/>
            <a:ext cx="1606530" cy="923330"/>
          </a:xfrm>
          <a:prstGeom prst="rect">
            <a:avLst/>
          </a:prstGeom>
          <a:noFill/>
        </p:spPr>
        <p:txBody>
          <a:bodyPr wrap="none" lIns="91440" tIns="45720" rIns="91440" bIns="45720">
            <a:spAutoFit/>
          </a:bodyPr>
          <a:lstStyle/>
          <a:p>
            <a:pPr algn="ctr"/>
            <a:r>
              <a:rPr lang="en-US" sz="5400" dirty="0">
                <a:ln w="0"/>
                <a:effectLst>
                  <a:outerShdw blurRad="38100" dist="19050" dir="2700000" algn="tl" rotWithShape="0">
                    <a:schemeClr val="dk1">
                      <a:alpha val="40000"/>
                    </a:schemeClr>
                  </a:outerShdw>
                </a:effectLst>
              </a:rPr>
              <a:t>C++</a:t>
            </a: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85D31-D407-ED23-0083-E45B897AB45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E55553A-306F-DD6D-F323-3334C3F908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628" y="141746"/>
            <a:ext cx="3423394" cy="892398"/>
          </a:xfrm>
          <a:prstGeom prst="rect">
            <a:avLst/>
          </a:prstGeom>
        </p:spPr>
      </p:pic>
      <p:sp>
        <p:nvSpPr>
          <p:cNvPr id="3" name="TextBox 2">
            <a:extLst>
              <a:ext uri="{FF2B5EF4-FFF2-40B4-BE49-F238E27FC236}">
                <a16:creationId xmlns:a16="http://schemas.microsoft.com/office/drawing/2014/main" id="{AE74013E-540C-FF1E-4803-3C53B5777936}"/>
              </a:ext>
            </a:extLst>
          </p:cNvPr>
          <p:cNvSpPr txBox="1"/>
          <p:nvPr/>
        </p:nvSpPr>
        <p:spPr>
          <a:xfrm>
            <a:off x="658585" y="1197463"/>
            <a:ext cx="10874829" cy="4729243"/>
          </a:xfrm>
          <a:prstGeom prst="rect">
            <a:avLst/>
          </a:prstGeom>
          <a:noFill/>
        </p:spPr>
        <p:txBody>
          <a:bodyPr wrap="square">
            <a:spAutoFit/>
          </a:bodyPr>
          <a:lstStyle/>
          <a:p>
            <a:pPr>
              <a:lnSpc>
                <a:spcPct val="115000"/>
              </a:lnSpc>
              <a:spcAft>
                <a:spcPts val="800"/>
              </a:spcAft>
              <a:buNone/>
            </a:pPr>
            <a:r>
              <a:rPr lang="en-US" sz="2000" b="1" kern="100" dirty="0">
                <a:effectLst/>
                <a:latin typeface="Calibri" panose="020F0502020204030204" pitchFamily="34" charset="0"/>
                <a:cs typeface="Times New Roman" panose="02020603050405020304" pitchFamily="18" charset="0"/>
              </a:rPr>
              <a:t>Q2. </a:t>
            </a:r>
            <a:r>
              <a:rPr lang="en-US" sz="2000" kern="100" dirty="0">
                <a:effectLst/>
                <a:latin typeface="Calibri" panose="020F0502020204030204" pitchFamily="34" charset="0"/>
                <a:cs typeface="Times New Roman" panose="02020603050405020304" pitchFamily="18" charset="0"/>
              </a:rPr>
              <a:t>The Caesar cipher is a type of substitution cipher in which each alphabet in the plaintext or messages is shifted by a number of places down the alphabet. </a:t>
            </a:r>
          </a:p>
          <a:p>
            <a:pPr>
              <a:lnSpc>
                <a:spcPct val="115000"/>
              </a:lnSpc>
              <a:spcAft>
                <a:spcPts val="800"/>
              </a:spcAft>
              <a:buNone/>
            </a:pPr>
            <a:r>
              <a:rPr lang="en-US" sz="2000" kern="100" dirty="0">
                <a:effectLst/>
                <a:latin typeface="Calibri" panose="020F0502020204030204" pitchFamily="34" charset="0"/>
                <a:cs typeface="Times New Roman" panose="02020603050405020304" pitchFamily="18" charset="0"/>
              </a:rPr>
              <a:t>For example, with a shift of 1, P would be replaced by Q, Q would become R, and so on. To pass an encrypted message from one person to another, it is first necessary that both parties have the ‘Key’ for the cipher, so that the sender may encrypt and the receiver may decrypt it. Key is the number of OFFSET to shift the cipher alphabet. Key can have basic shifts from 1 to 25 positions as there are 26 total alphabets.</a:t>
            </a:r>
          </a:p>
          <a:p>
            <a:pPr>
              <a:lnSpc>
                <a:spcPct val="115000"/>
              </a:lnSpc>
              <a:spcAft>
                <a:spcPts val="800"/>
              </a:spcAft>
              <a:buNone/>
            </a:pPr>
            <a:r>
              <a:rPr lang="en-US" sz="2000" kern="100" dirty="0">
                <a:effectLst/>
                <a:latin typeface="Calibri" panose="020F0502020204030204" pitchFamily="34" charset="0"/>
                <a:cs typeface="Times New Roman" panose="02020603050405020304" pitchFamily="18" charset="0"/>
              </a:rPr>
              <a:t> As we are designing custom Caesar Cipher, in addition to alphabets, we are considering numeric digits from 0 to 9. Digits can also be shifted by key places. </a:t>
            </a:r>
          </a:p>
          <a:p>
            <a:pPr>
              <a:lnSpc>
                <a:spcPct val="115000"/>
              </a:lnSpc>
              <a:spcAft>
                <a:spcPts val="800"/>
              </a:spcAft>
              <a:buNone/>
            </a:pPr>
            <a:r>
              <a:rPr lang="en-US" sz="2000" kern="100" dirty="0">
                <a:effectLst/>
                <a:latin typeface="Calibri" panose="020F0502020204030204" pitchFamily="34" charset="0"/>
                <a:cs typeface="Times New Roman" panose="02020603050405020304" pitchFamily="18" charset="0"/>
              </a:rPr>
              <a:t>For Example, if a given plain text contains any digit with values 5 and key =2, then 5 will be replaced by 7, “- ”(minus sign) will remain as it is.</a:t>
            </a:r>
          </a:p>
          <a:p>
            <a:pPr>
              <a:lnSpc>
                <a:spcPct val="115000"/>
              </a:lnSpc>
              <a:spcAft>
                <a:spcPts val="800"/>
              </a:spcAft>
              <a:buNone/>
            </a:pPr>
            <a:r>
              <a:rPr lang="en-US" sz="2000" kern="100" dirty="0">
                <a:effectLst/>
                <a:latin typeface="Calibri" panose="020F0502020204030204" pitchFamily="34" charset="0"/>
                <a:cs typeface="Times New Roman" panose="02020603050405020304" pitchFamily="18" charset="0"/>
              </a:rPr>
              <a:t> Key value less than 0 should result into “INVALID INPUT” </a:t>
            </a:r>
          </a:p>
        </p:txBody>
      </p:sp>
    </p:spTree>
    <p:extLst>
      <p:ext uri="{BB962C8B-B14F-4D97-AF65-F5344CB8AC3E}">
        <p14:creationId xmlns:p14="http://schemas.microsoft.com/office/powerpoint/2010/main" val="27569478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3E365-E97A-D3D3-0820-F6ADBBAE3F9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A110789-DEC2-AC67-33BE-1A48131287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628" y="141746"/>
            <a:ext cx="3423394" cy="892398"/>
          </a:xfrm>
          <a:prstGeom prst="rect">
            <a:avLst/>
          </a:prstGeom>
        </p:spPr>
      </p:pic>
      <p:sp>
        <p:nvSpPr>
          <p:cNvPr id="3" name="TextBox 2">
            <a:extLst>
              <a:ext uri="{FF2B5EF4-FFF2-40B4-BE49-F238E27FC236}">
                <a16:creationId xmlns:a16="http://schemas.microsoft.com/office/drawing/2014/main" id="{80353B09-9595-A780-2524-3A9E7CF616CD}"/>
              </a:ext>
            </a:extLst>
          </p:cNvPr>
          <p:cNvSpPr txBox="1"/>
          <p:nvPr/>
        </p:nvSpPr>
        <p:spPr>
          <a:xfrm>
            <a:off x="783771" y="1287780"/>
            <a:ext cx="6096000" cy="1338572"/>
          </a:xfrm>
          <a:prstGeom prst="rect">
            <a:avLst/>
          </a:prstGeom>
          <a:noFill/>
        </p:spPr>
        <p:txBody>
          <a:bodyPr wrap="square">
            <a:spAutoFit/>
          </a:bodyPr>
          <a:lstStyle/>
          <a:p>
            <a:pPr>
              <a:lnSpc>
                <a:spcPct val="115000"/>
              </a:lnSpc>
              <a:spcAft>
                <a:spcPts val="800"/>
              </a:spcAft>
              <a:buNone/>
            </a:pPr>
            <a:r>
              <a:rPr lang="en-US" sz="2000" u="sng" kern="100" dirty="0">
                <a:effectLst/>
                <a:latin typeface="Calibri" panose="020F0502020204030204" pitchFamily="34" charset="0"/>
                <a:cs typeface="Times New Roman" panose="02020603050405020304" pitchFamily="18" charset="0"/>
              </a:rPr>
              <a:t>Example 1:</a:t>
            </a:r>
            <a:r>
              <a:rPr lang="en-US" sz="2000" kern="100" dirty="0">
                <a:effectLst/>
                <a:latin typeface="Calibri" panose="020F0502020204030204" pitchFamily="34" charset="0"/>
                <a:cs typeface="Times New Roman" panose="02020603050405020304" pitchFamily="18" charset="0"/>
              </a:rPr>
              <a:t> Enter your Plaintext: All the best</a:t>
            </a:r>
          </a:p>
          <a:p>
            <a:pPr>
              <a:lnSpc>
                <a:spcPct val="115000"/>
              </a:lnSpc>
              <a:spcAft>
                <a:spcPts val="800"/>
              </a:spcAft>
              <a:buNone/>
            </a:pPr>
            <a:r>
              <a:rPr lang="en-US" sz="2000" kern="100" dirty="0">
                <a:effectLst/>
                <a:latin typeface="Calibri" panose="020F0502020204030204" pitchFamily="34" charset="0"/>
                <a:cs typeface="Times New Roman" panose="02020603050405020304" pitchFamily="18" charset="0"/>
              </a:rPr>
              <a:t> Enter the Key: 1 </a:t>
            </a:r>
          </a:p>
          <a:p>
            <a:pPr>
              <a:lnSpc>
                <a:spcPct val="115000"/>
              </a:lnSpc>
              <a:spcAft>
                <a:spcPts val="800"/>
              </a:spcAft>
              <a:buNone/>
            </a:pPr>
            <a:r>
              <a:rPr lang="en-US" sz="2000" kern="100" dirty="0">
                <a:effectLst/>
                <a:latin typeface="Calibri" panose="020F0502020204030204" pitchFamily="34" charset="0"/>
                <a:cs typeface="Times New Roman" panose="02020603050405020304" pitchFamily="18" charset="0"/>
              </a:rPr>
              <a:t>The encrypted Text is: Bmm uif Cftu</a:t>
            </a:r>
          </a:p>
        </p:txBody>
      </p:sp>
    </p:spTree>
    <p:extLst>
      <p:ext uri="{BB962C8B-B14F-4D97-AF65-F5344CB8AC3E}">
        <p14:creationId xmlns:p14="http://schemas.microsoft.com/office/powerpoint/2010/main" val="510124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11580-C083-F18B-C6FE-D7A9A8156D0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A83EA35-B1FB-7E9A-1BC5-67870691EE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628" y="141746"/>
            <a:ext cx="3423394" cy="892398"/>
          </a:xfrm>
          <a:prstGeom prst="rect">
            <a:avLst/>
          </a:prstGeom>
        </p:spPr>
      </p:pic>
      <p:pic>
        <p:nvPicPr>
          <p:cNvPr id="3" name="Picture 2">
            <a:extLst>
              <a:ext uri="{FF2B5EF4-FFF2-40B4-BE49-F238E27FC236}">
                <a16:creationId xmlns:a16="http://schemas.microsoft.com/office/drawing/2014/main" id="{775E705B-BAE3-C079-E9CA-2494C2A61529}"/>
              </a:ext>
            </a:extLst>
          </p:cNvPr>
          <p:cNvPicPr>
            <a:picLocks noChangeAspect="1"/>
          </p:cNvPicPr>
          <p:nvPr/>
        </p:nvPicPr>
        <p:blipFill>
          <a:blip r:embed="rId3"/>
          <a:stretch>
            <a:fillRect/>
          </a:stretch>
        </p:blipFill>
        <p:spPr>
          <a:xfrm>
            <a:off x="4229203" y="413091"/>
            <a:ext cx="6324970" cy="6031818"/>
          </a:xfrm>
          <a:prstGeom prst="rect">
            <a:avLst/>
          </a:prstGeom>
        </p:spPr>
      </p:pic>
    </p:spTree>
    <p:extLst>
      <p:ext uri="{BB962C8B-B14F-4D97-AF65-F5344CB8AC3E}">
        <p14:creationId xmlns:p14="http://schemas.microsoft.com/office/powerpoint/2010/main" val="3625046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AE63B-D5E4-1D5F-EA06-16BC9953DFE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58DFE2C-9875-3A67-7330-80117448C9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628" y="141746"/>
            <a:ext cx="3423394" cy="892398"/>
          </a:xfrm>
          <a:prstGeom prst="rect">
            <a:avLst/>
          </a:prstGeom>
        </p:spPr>
      </p:pic>
      <p:pic>
        <p:nvPicPr>
          <p:cNvPr id="4" name="Picture 3">
            <a:extLst>
              <a:ext uri="{FF2B5EF4-FFF2-40B4-BE49-F238E27FC236}">
                <a16:creationId xmlns:a16="http://schemas.microsoft.com/office/drawing/2014/main" id="{A2C293A7-2568-492B-ADE8-96E6EF1B6680}"/>
              </a:ext>
            </a:extLst>
          </p:cNvPr>
          <p:cNvPicPr>
            <a:picLocks noChangeAspect="1"/>
          </p:cNvPicPr>
          <p:nvPr/>
        </p:nvPicPr>
        <p:blipFill>
          <a:blip r:embed="rId3"/>
          <a:stretch>
            <a:fillRect/>
          </a:stretch>
        </p:blipFill>
        <p:spPr>
          <a:xfrm>
            <a:off x="4081677" y="402770"/>
            <a:ext cx="6605264" cy="6215743"/>
          </a:xfrm>
          <a:prstGeom prst="rect">
            <a:avLst/>
          </a:prstGeom>
        </p:spPr>
      </p:pic>
    </p:spTree>
    <p:extLst>
      <p:ext uri="{BB962C8B-B14F-4D97-AF65-F5344CB8AC3E}">
        <p14:creationId xmlns:p14="http://schemas.microsoft.com/office/powerpoint/2010/main" val="162947286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Slate</Template>
  <TotalTime>984</TotalTime>
  <Words>248</Words>
  <Application>Microsoft Office PowerPoint</Application>
  <PresentationFormat>Widescreen</PresentationFormat>
  <Paragraphs>15</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Calibri</vt:lpstr>
      <vt:lpstr>Calisto MT</vt:lpstr>
      <vt:lpstr>Wingdings</vt:lpstr>
      <vt:lpstr>Wingdings 2</vt:lpstr>
      <vt:lpstr>Slate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Gourav Lamba</dc:creator>
  <cp:lastModifiedBy>Gourav Lamba</cp:lastModifiedBy>
  <cp:revision>2</cp:revision>
  <dcterms:created xsi:type="dcterms:W3CDTF">2025-10-16T13:48:23Z</dcterms:created>
  <dcterms:modified xsi:type="dcterms:W3CDTF">2026-01-11T13:11:03Z</dcterms:modified>
</cp:coreProperties>
</file>